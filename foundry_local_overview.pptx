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9" d="100"/>
          <a:sy n="169" d="100"/>
        </p:scale>
        <p:origin x="1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Qwen3.5-9B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MMLU-Pro</c:v>
                </c:pt>
                <c:pt idx="1">
                  <c:v>GPQA-D</c:v>
                </c:pt>
                <c:pt idx="2">
                  <c:v>MMLU-Redux</c:v>
                </c:pt>
                <c:pt idx="3">
                  <c:v>C-Eval</c:v>
                </c:pt>
                <c:pt idx="4">
                  <c:v>IFEval</c:v>
                </c:pt>
                <c:pt idx="5">
                  <c:v>HMMT'25</c:v>
                </c:pt>
                <c:pt idx="6">
                  <c:v>LiveCode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82.5</c:v>
                </c:pt>
                <c:pt idx="1">
                  <c:v>81.7</c:v>
                </c:pt>
                <c:pt idx="2">
                  <c:v>91.1</c:v>
                </c:pt>
                <c:pt idx="3">
                  <c:v>88.2</c:v>
                </c:pt>
                <c:pt idx="4">
                  <c:v>91.5</c:v>
                </c:pt>
                <c:pt idx="5">
                  <c:v>83.2</c:v>
                </c:pt>
                <c:pt idx="6">
                  <c:v>65.599999999999994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10-604E-AECA-9A3D378A34E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GPT-OSS-120B</c:v>
                </c:pt>
              </c:strCache>
            </c:strRef>
          </c:tx>
          <c:spPr>
            <a:solidFill>
              <a:srgbClr val="4ECDC4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MMLU-Pro</c:v>
                </c:pt>
                <c:pt idx="1">
                  <c:v>GPQA-D</c:v>
                </c:pt>
                <c:pt idx="2">
                  <c:v>MMLU-Redux</c:v>
                </c:pt>
                <c:pt idx="3">
                  <c:v>C-Eval</c:v>
                </c:pt>
                <c:pt idx="4">
                  <c:v>IFEval</c:v>
                </c:pt>
                <c:pt idx="5">
                  <c:v>HMMT'25</c:v>
                </c:pt>
                <c:pt idx="6">
                  <c:v>LiveCode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80.8</c:v>
                </c:pt>
                <c:pt idx="1">
                  <c:v>80.099999999999994</c:v>
                </c:pt>
                <c:pt idx="2">
                  <c:v>91</c:v>
                </c:pt>
                <c:pt idx="3">
                  <c:v>76.2</c:v>
                </c:pt>
                <c:pt idx="4">
                  <c:v>88.9</c:v>
                </c:pt>
                <c:pt idx="5">
                  <c:v>90</c:v>
                </c:pt>
                <c:pt idx="6">
                  <c:v>82.7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10-604E-AECA-9A3D378A34E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Qwen3.5-4B</c:v>
                </c:pt>
              </c:strCache>
            </c:strRef>
          </c:tx>
          <c:spPr>
            <a:solidFill>
              <a:srgbClr val="FFB454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MMLU-Pro</c:v>
                </c:pt>
                <c:pt idx="1">
                  <c:v>GPQA-D</c:v>
                </c:pt>
                <c:pt idx="2">
                  <c:v>MMLU-Redux</c:v>
                </c:pt>
                <c:pt idx="3">
                  <c:v>C-Eval</c:v>
                </c:pt>
                <c:pt idx="4">
                  <c:v>IFEval</c:v>
                </c:pt>
                <c:pt idx="5">
                  <c:v>HMMT'25</c:v>
                </c:pt>
                <c:pt idx="6">
                  <c:v>LiveCode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79.099999999999994</c:v>
                </c:pt>
                <c:pt idx="1">
                  <c:v>76.2</c:v>
                </c:pt>
                <c:pt idx="2">
                  <c:v>88.8</c:v>
                </c:pt>
                <c:pt idx="3">
                  <c:v>85.1</c:v>
                </c:pt>
                <c:pt idx="4">
                  <c:v>89.8</c:v>
                </c:pt>
                <c:pt idx="5">
                  <c:v>74</c:v>
                </c:pt>
                <c:pt idx="6">
                  <c:v>55.8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810-604E-AECA-9A3D378A34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E8EAF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50"/>
        </c:scaling>
        <c:delete val="0"/>
        <c:axPos val="l"/>
        <c:majorGridlines>
          <c:spPr>
            <a:ln w="6350" cap="flat">
              <a:solidFill>
                <a:srgbClr val="2A355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5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038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E8EAF0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03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Qwen3.5-9B</c:v>
                </c:pt>
              </c:strCache>
            </c:strRef>
          </c:tx>
          <c:spPr>
            <a:solidFill>
              <a:srgbClr val="FF6B35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MMMU-Pro</c:v>
                </c:pt>
                <c:pt idx="1">
                  <c:v>MMMU</c:v>
                </c:pt>
                <c:pt idx="2">
                  <c:v>MathVision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70.099999999999994</c:v>
                </c:pt>
                <c:pt idx="1">
                  <c:v>78.400000000000006</c:v>
                </c:pt>
                <c:pt idx="2">
                  <c:v>78.900000000000006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AEC-7A45-B876-849A45598B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GPT-5-Nano</c:v>
                </c:pt>
              </c:strCache>
            </c:strRef>
          </c:tx>
          <c:spPr>
            <a:solidFill>
              <a:srgbClr val="4ECDC4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MMMU-Pro</c:v>
                </c:pt>
                <c:pt idx="1">
                  <c:v>MMMU</c:v>
                </c:pt>
                <c:pt idx="2">
                  <c:v>MathVision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57.2</c:v>
                </c:pt>
                <c:pt idx="1">
                  <c:v>75.8</c:v>
                </c:pt>
                <c:pt idx="2">
                  <c:v>62.2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AEC-7A45-B876-849A45598B5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Gemini 2.5 Flash-Lite</c:v>
                </c:pt>
              </c:strCache>
            </c:strRef>
          </c:tx>
          <c:spPr>
            <a:solidFill>
              <a:srgbClr val="FFB454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MMMU-Pro</c:v>
                </c:pt>
                <c:pt idx="1">
                  <c:v>MMMU</c:v>
                </c:pt>
                <c:pt idx="2">
                  <c:v>MathVision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59.7</c:v>
                </c:pt>
                <c:pt idx="1">
                  <c:v>73.400000000000006</c:v>
                </c:pt>
                <c:pt idx="2">
                  <c:v>52.1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AEC-7A45-B876-849A45598B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E8EAF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40"/>
        </c:scaling>
        <c:delete val="0"/>
        <c:axPos val="l"/>
        <c:majorGridlines>
          <c:spPr>
            <a:ln w="6350" cap="flat">
              <a:solidFill>
                <a:srgbClr val="2A355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A95B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62038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950">
              <a:solidFill>
                <a:srgbClr val="E8EAF0"/>
              </a:solidFill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20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920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5669280" y="548640"/>
            <a:ext cx="3840480" cy="38404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" name="Shape 1"/>
          <p:cNvSpPr/>
          <p:nvPr/>
        </p:nvSpPr>
        <p:spPr>
          <a:xfrm>
            <a:off x="5486400" y="3931920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" name="Shape 2"/>
          <p:cNvSpPr/>
          <p:nvPr/>
        </p:nvSpPr>
        <p:spPr>
          <a:xfrm>
            <a:off x="5650992" y="3931920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" name="Shape 3"/>
          <p:cNvSpPr/>
          <p:nvPr/>
        </p:nvSpPr>
        <p:spPr>
          <a:xfrm>
            <a:off x="5815584" y="3931920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" name="Shape 4"/>
          <p:cNvSpPr/>
          <p:nvPr/>
        </p:nvSpPr>
        <p:spPr>
          <a:xfrm>
            <a:off x="5980176" y="3931920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Shape 5"/>
          <p:cNvSpPr/>
          <p:nvPr/>
        </p:nvSpPr>
        <p:spPr>
          <a:xfrm>
            <a:off x="6144768" y="3931920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" name="Shape 6"/>
          <p:cNvSpPr/>
          <p:nvPr/>
        </p:nvSpPr>
        <p:spPr>
          <a:xfrm>
            <a:off x="6309360" y="3931920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0" name="Shape 7"/>
          <p:cNvSpPr/>
          <p:nvPr/>
        </p:nvSpPr>
        <p:spPr>
          <a:xfrm>
            <a:off x="6473952" y="3931920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1" name="Shape 8"/>
          <p:cNvSpPr/>
          <p:nvPr/>
        </p:nvSpPr>
        <p:spPr>
          <a:xfrm>
            <a:off x="6638544" y="3931920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Shape 9"/>
          <p:cNvSpPr/>
          <p:nvPr/>
        </p:nvSpPr>
        <p:spPr>
          <a:xfrm>
            <a:off x="5486400" y="4096512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3" name="Shape 10"/>
          <p:cNvSpPr/>
          <p:nvPr/>
        </p:nvSpPr>
        <p:spPr>
          <a:xfrm>
            <a:off x="5650992" y="4096512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Shape 11"/>
          <p:cNvSpPr/>
          <p:nvPr/>
        </p:nvSpPr>
        <p:spPr>
          <a:xfrm>
            <a:off x="5815584" y="4096512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5" name="Shape 12"/>
          <p:cNvSpPr/>
          <p:nvPr/>
        </p:nvSpPr>
        <p:spPr>
          <a:xfrm>
            <a:off x="5980176" y="4096512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Shape 13"/>
          <p:cNvSpPr/>
          <p:nvPr/>
        </p:nvSpPr>
        <p:spPr>
          <a:xfrm>
            <a:off x="6144768" y="4096512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Shape 14"/>
          <p:cNvSpPr/>
          <p:nvPr/>
        </p:nvSpPr>
        <p:spPr>
          <a:xfrm>
            <a:off x="6309360" y="4096512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8" name="Shape 15"/>
          <p:cNvSpPr/>
          <p:nvPr/>
        </p:nvSpPr>
        <p:spPr>
          <a:xfrm>
            <a:off x="6473952" y="4096512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9" name="Shape 16"/>
          <p:cNvSpPr/>
          <p:nvPr/>
        </p:nvSpPr>
        <p:spPr>
          <a:xfrm>
            <a:off x="6638544" y="4096512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Shape 17"/>
          <p:cNvSpPr/>
          <p:nvPr/>
        </p:nvSpPr>
        <p:spPr>
          <a:xfrm>
            <a:off x="5486400" y="4261104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1" name="Shape 18"/>
          <p:cNvSpPr/>
          <p:nvPr/>
        </p:nvSpPr>
        <p:spPr>
          <a:xfrm>
            <a:off x="5650992" y="4261104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2" name="Shape 19"/>
          <p:cNvSpPr/>
          <p:nvPr/>
        </p:nvSpPr>
        <p:spPr>
          <a:xfrm>
            <a:off x="5815584" y="4261104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3" name="Shape 20"/>
          <p:cNvSpPr/>
          <p:nvPr/>
        </p:nvSpPr>
        <p:spPr>
          <a:xfrm>
            <a:off x="5980176" y="4261104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4" name="Shape 21"/>
          <p:cNvSpPr/>
          <p:nvPr/>
        </p:nvSpPr>
        <p:spPr>
          <a:xfrm>
            <a:off x="6144768" y="4261104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5" name="Shape 22"/>
          <p:cNvSpPr/>
          <p:nvPr/>
        </p:nvSpPr>
        <p:spPr>
          <a:xfrm>
            <a:off x="6309360" y="4261104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6" name="Shape 23"/>
          <p:cNvSpPr/>
          <p:nvPr/>
        </p:nvSpPr>
        <p:spPr>
          <a:xfrm>
            <a:off x="6473952" y="4261104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7" name="Shape 24"/>
          <p:cNvSpPr/>
          <p:nvPr/>
        </p:nvSpPr>
        <p:spPr>
          <a:xfrm>
            <a:off x="6638544" y="4261104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8" name="Shape 25"/>
          <p:cNvSpPr/>
          <p:nvPr/>
        </p:nvSpPr>
        <p:spPr>
          <a:xfrm>
            <a:off x="5486400" y="4425696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9" name="Shape 26"/>
          <p:cNvSpPr/>
          <p:nvPr/>
        </p:nvSpPr>
        <p:spPr>
          <a:xfrm>
            <a:off x="5650992" y="4425696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0" name="Shape 27"/>
          <p:cNvSpPr/>
          <p:nvPr/>
        </p:nvSpPr>
        <p:spPr>
          <a:xfrm>
            <a:off x="5815584" y="4425696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1" name="Shape 28"/>
          <p:cNvSpPr/>
          <p:nvPr/>
        </p:nvSpPr>
        <p:spPr>
          <a:xfrm>
            <a:off x="5980176" y="4425696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2" name="Shape 29"/>
          <p:cNvSpPr/>
          <p:nvPr/>
        </p:nvSpPr>
        <p:spPr>
          <a:xfrm>
            <a:off x="6144768" y="4425696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3" name="Shape 30"/>
          <p:cNvSpPr/>
          <p:nvPr/>
        </p:nvSpPr>
        <p:spPr>
          <a:xfrm>
            <a:off x="6309360" y="4425696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4" name="Shape 31"/>
          <p:cNvSpPr/>
          <p:nvPr/>
        </p:nvSpPr>
        <p:spPr>
          <a:xfrm>
            <a:off x="6473952" y="4425696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Shape 32"/>
          <p:cNvSpPr/>
          <p:nvPr/>
        </p:nvSpPr>
        <p:spPr>
          <a:xfrm>
            <a:off x="6638544" y="4425696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6" name="Shape 33"/>
          <p:cNvSpPr/>
          <p:nvPr/>
        </p:nvSpPr>
        <p:spPr>
          <a:xfrm>
            <a:off x="5486400" y="4590288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7" name="Shape 34"/>
          <p:cNvSpPr/>
          <p:nvPr/>
        </p:nvSpPr>
        <p:spPr>
          <a:xfrm>
            <a:off x="5650992" y="4590288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8" name="Shape 35"/>
          <p:cNvSpPr/>
          <p:nvPr/>
        </p:nvSpPr>
        <p:spPr>
          <a:xfrm>
            <a:off x="5815584" y="4590288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9" name="Shape 36"/>
          <p:cNvSpPr/>
          <p:nvPr/>
        </p:nvSpPr>
        <p:spPr>
          <a:xfrm>
            <a:off x="5980176" y="4590288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0" name="Shape 37"/>
          <p:cNvSpPr/>
          <p:nvPr/>
        </p:nvSpPr>
        <p:spPr>
          <a:xfrm>
            <a:off x="6144768" y="4590288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1" name="Shape 38"/>
          <p:cNvSpPr/>
          <p:nvPr/>
        </p:nvSpPr>
        <p:spPr>
          <a:xfrm>
            <a:off x="6309360" y="4590288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2" name="Shape 39"/>
          <p:cNvSpPr/>
          <p:nvPr/>
        </p:nvSpPr>
        <p:spPr>
          <a:xfrm>
            <a:off x="6473952" y="4590288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3" name="Shape 40"/>
          <p:cNvSpPr/>
          <p:nvPr/>
        </p:nvSpPr>
        <p:spPr>
          <a:xfrm>
            <a:off x="6638544" y="4590288"/>
            <a:ext cx="36576" cy="36576"/>
          </a:xfrm>
          <a:prstGeom prst="ellipse">
            <a:avLst/>
          </a:prstGeom>
          <a:solidFill>
            <a:srgbClr val="2B6E69"/>
          </a:solidFill>
          <a:ln w="12700">
            <a:solidFill>
              <a:srgbClr val="2B6E69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AC7BD9A6-E83D-7C4F-65FE-0C0069E2C116}"/>
              </a:ext>
            </a:extLst>
          </p:cNvPr>
          <p:cNvGrpSpPr/>
          <p:nvPr/>
        </p:nvGrpSpPr>
        <p:grpSpPr>
          <a:xfrm>
            <a:off x="329562" y="263608"/>
            <a:ext cx="2141586" cy="295744"/>
            <a:chOff x="510930" y="548640"/>
            <a:chExt cx="2141586" cy="295744"/>
          </a:xfrm>
        </p:grpSpPr>
        <p:sp>
          <p:nvSpPr>
            <p:cNvPr id="44" name="Shape 41"/>
            <p:cNvSpPr/>
            <p:nvPr/>
          </p:nvSpPr>
          <p:spPr>
            <a:xfrm>
              <a:off x="510930" y="551776"/>
              <a:ext cx="2103876" cy="292608"/>
            </a:xfrm>
            <a:prstGeom prst="rect">
              <a:avLst/>
            </a:prstGeom>
            <a:solidFill>
              <a:srgbClr val="162038"/>
            </a:solidFill>
            <a:ln w="12700">
              <a:solidFill>
                <a:srgbClr val="FF6B35"/>
              </a:solidFill>
              <a:prstDash val="solid"/>
            </a:ln>
          </p:spPr>
          <p:txBody>
            <a:bodyPr/>
            <a:lstStyle/>
            <a:p>
              <a:endParaRPr lang="ko-Kore-KR" altLang="en-US"/>
            </a:p>
          </p:txBody>
        </p:sp>
        <p:sp>
          <p:nvSpPr>
            <p:cNvPr id="45" name="Text 42"/>
            <p:cNvSpPr/>
            <p:nvPr/>
          </p:nvSpPr>
          <p:spPr>
            <a:xfrm>
              <a:off x="548640" y="548640"/>
              <a:ext cx="2103876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kern="0" spc="400" dirty="0">
                  <a:solidFill>
                    <a:srgbClr val="FF6B3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FACTORY · AI · v1.0</a:t>
              </a:r>
              <a:endParaRPr lang="en-US" sz="900" dirty="0"/>
            </a:p>
          </p:txBody>
        </p:sp>
      </p:grpSp>
      <p:sp>
        <p:nvSpPr>
          <p:cNvPr id="46" name="Text 43"/>
          <p:cNvSpPr/>
          <p:nvPr/>
        </p:nvSpPr>
        <p:spPr>
          <a:xfrm>
            <a:off x="548640" y="128016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팩토리</a:t>
            </a:r>
            <a:endParaRPr lang="en-US" sz="6000" dirty="0"/>
          </a:p>
        </p:txBody>
      </p:sp>
      <p:sp>
        <p:nvSpPr>
          <p:cNvPr id="47" name="Text 44"/>
          <p:cNvSpPr/>
          <p:nvPr/>
        </p:nvSpPr>
        <p:spPr>
          <a:xfrm>
            <a:off x="548640" y="21488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endParaRPr lang="en-US" sz="6000" dirty="0"/>
          </a:p>
        </p:txBody>
      </p:sp>
      <p:sp>
        <p:nvSpPr>
          <p:cNvPr id="48" name="Shape 45"/>
          <p:cNvSpPr/>
          <p:nvPr/>
        </p:nvSpPr>
        <p:spPr>
          <a:xfrm>
            <a:off x="566928" y="3246120"/>
            <a:ext cx="1097280" cy="0"/>
          </a:xfrm>
          <a:prstGeom prst="line">
            <a:avLst/>
          </a:prstGeom>
          <a:noFill/>
          <a:ln w="254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9" name="Text 46"/>
          <p:cNvSpPr/>
          <p:nvPr/>
        </p:nvSpPr>
        <p:spPr>
          <a:xfrm>
            <a:off x="548640" y="33832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Apple Silicon + MLX로 구동되는</a:t>
            </a:r>
            <a:endParaRPr lang="en-US" sz="1500" dirty="0"/>
          </a:p>
        </p:txBody>
      </p:sp>
      <p:sp>
        <p:nvSpPr>
          <p:cNvPr id="50" name="Text 47"/>
          <p:cNvSpPr/>
          <p:nvPr/>
        </p:nvSpPr>
        <p:spPr>
          <a:xfrm>
            <a:off x="548640" y="3703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LLM 기반 제조업 AI 에이전트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548640" y="4297680"/>
            <a:ext cx="1097280" cy="320040"/>
          </a:xfrm>
          <a:prstGeom prst="roundRect">
            <a:avLst>
              <a:gd name="adj" fmla="val 51429"/>
            </a:avLst>
          </a:prstGeom>
          <a:solidFill>
            <a:srgbClr val="162038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2" name="Text 49"/>
          <p:cNvSpPr/>
          <p:nvPr/>
        </p:nvSpPr>
        <p:spPr>
          <a:xfrm>
            <a:off x="54864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4ECD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Apple M4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1783080" y="4297680"/>
            <a:ext cx="1097280" cy="320040"/>
          </a:xfrm>
          <a:prstGeom prst="roundRect">
            <a:avLst>
              <a:gd name="adj" fmla="val 51429"/>
            </a:avLst>
          </a:prstGeom>
          <a:solidFill>
            <a:srgbClr val="162038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4" name="Text 51"/>
          <p:cNvSpPr/>
          <p:nvPr/>
        </p:nvSpPr>
        <p:spPr>
          <a:xfrm>
            <a:off x="178308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Qwen3.5-9B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3017520" y="4297680"/>
            <a:ext cx="1097280" cy="320040"/>
          </a:xfrm>
          <a:prstGeom prst="roundRect">
            <a:avLst>
              <a:gd name="adj" fmla="val 51429"/>
            </a:avLst>
          </a:prstGeom>
          <a:solidFill>
            <a:srgbClr val="162038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6" name="Text 53"/>
          <p:cNvSpPr/>
          <p:nvPr/>
        </p:nvSpPr>
        <p:spPr>
          <a:xfrm>
            <a:off x="301752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B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4-bit MLX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251960" y="4297680"/>
            <a:ext cx="1097280" cy="320040"/>
          </a:xfrm>
          <a:prstGeom prst="roundRect">
            <a:avLst>
              <a:gd name="adj" fmla="val 51429"/>
            </a:avLst>
          </a:prstGeom>
          <a:solidFill>
            <a:srgbClr val="162038"/>
          </a:solidFill>
          <a:ln w="12700">
            <a:solidFill>
              <a:srgbClr val="5DCC8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8" name="Text 55"/>
          <p:cNvSpPr/>
          <p:nvPr/>
        </p:nvSpPr>
        <p:spPr>
          <a:xfrm>
            <a:off x="4251960" y="42976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5DC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Offline-First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· PROJECT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현장을 위한 로컬 LLM 기반 AI 어시스턴트의 핵심 가치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2670048" cy="1508760"/>
          </a:xfrm>
          <a:prstGeom prst="rect">
            <a:avLst/>
          </a:prstGeom>
          <a:solidFill>
            <a:srgbClr val="162038"/>
          </a:solidFill>
          <a:ln w="9525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64008" cy="1508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Shape 6"/>
          <p:cNvSpPr/>
          <p:nvPr/>
        </p:nvSpPr>
        <p:spPr>
          <a:xfrm>
            <a:off x="713232" y="1801368"/>
            <a:ext cx="502920" cy="502920"/>
          </a:xfrm>
          <a:prstGeom prst="ellipse">
            <a:avLst/>
          </a:prstGeom>
          <a:solidFill>
            <a:srgbClr val="0A0E1A"/>
          </a:solidFill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874520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80136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목적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240487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 현장 AI 어시스턴트 —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생산·품질·안전·유지보수 최적화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46120" y="1600200"/>
            <a:ext cx="2670048" cy="1508760"/>
          </a:xfrm>
          <a:prstGeom prst="rect">
            <a:avLst/>
          </a:prstGeom>
          <a:solidFill>
            <a:srgbClr val="162038"/>
          </a:solidFill>
          <a:ln w="9525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3" name="Shape 10"/>
          <p:cNvSpPr/>
          <p:nvPr/>
        </p:nvSpPr>
        <p:spPr>
          <a:xfrm>
            <a:off x="3246120" y="1600200"/>
            <a:ext cx="64008" cy="15087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Shape 11"/>
          <p:cNvSpPr/>
          <p:nvPr/>
        </p:nvSpPr>
        <p:spPr>
          <a:xfrm>
            <a:off x="3502152" y="1801368"/>
            <a:ext cx="502920" cy="502920"/>
          </a:xfrm>
          <a:prstGeom prst="ellipse">
            <a:avLst/>
          </a:prstGeom>
          <a:solidFill>
            <a:srgbClr val="0A0E1A"/>
          </a:solidFill>
          <a:ln w="1587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1874520"/>
            <a:ext cx="356616" cy="3566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14800" y="180136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프라이버시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502152" y="240487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클라우드 의존 없이 로컬에서 동작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 데이터 외부 유출 방지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35040" y="1600200"/>
            <a:ext cx="2670048" cy="1508760"/>
          </a:xfrm>
          <a:prstGeom prst="rect">
            <a:avLst/>
          </a:prstGeom>
          <a:solidFill>
            <a:srgbClr val="162038"/>
          </a:solidFill>
          <a:ln w="9525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9" name="Shape 15"/>
          <p:cNvSpPr/>
          <p:nvPr/>
        </p:nvSpPr>
        <p:spPr>
          <a:xfrm>
            <a:off x="6035040" y="1600200"/>
            <a:ext cx="64008" cy="150876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Shape 16"/>
          <p:cNvSpPr/>
          <p:nvPr/>
        </p:nvSpPr>
        <p:spPr>
          <a:xfrm>
            <a:off x="6291072" y="1801368"/>
            <a:ext cx="502920" cy="502920"/>
          </a:xfrm>
          <a:prstGeom prst="ellipse">
            <a:avLst/>
          </a:prstGeom>
          <a:solidFill>
            <a:srgbClr val="0A0E1A"/>
          </a:solidFill>
          <a:ln w="15875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874520"/>
            <a:ext cx="356616" cy="35661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903720" y="1801368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엔진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291072" y="2404872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Qwen3.5-9B · 4-bit 양자화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 Apple MLX Framework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57200" y="3310128"/>
            <a:ext cx="2670048" cy="1508760"/>
          </a:xfrm>
          <a:prstGeom prst="rect">
            <a:avLst/>
          </a:prstGeom>
          <a:solidFill>
            <a:srgbClr val="162038"/>
          </a:solidFill>
          <a:ln w="9525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25" name="Shape 20"/>
          <p:cNvSpPr/>
          <p:nvPr/>
        </p:nvSpPr>
        <p:spPr>
          <a:xfrm>
            <a:off x="457200" y="3310128"/>
            <a:ext cx="64008" cy="1508760"/>
          </a:xfrm>
          <a:prstGeom prst="rect">
            <a:avLst/>
          </a:prstGeom>
          <a:solidFill>
            <a:srgbClr val="5DCC8C"/>
          </a:solidFill>
          <a:ln w="12700">
            <a:solidFill>
              <a:srgbClr val="5DCC8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6" name="Shape 21"/>
          <p:cNvSpPr/>
          <p:nvPr/>
        </p:nvSpPr>
        <p:spPr>
          <a:xfrm>
            <a:off x="713232" y="3511296"/>
            <a:ext cx="502920" cy="502920"/>
          </a:xfrm>
          <a:prstGeom prst="ellipse">
            <a:avLst/>
          </a:prstGeom>
          <a:solidFill>
            <a:srgbClr val="0A0E1A"/>
          </a:solidFill>
          <a:ln w="15875">
            <a:solidFill>
              <a:srgbClr val="5DCC8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3584448"/>
            <a:ext cx="356616" cy="35661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325880" y="351129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듀얼 인터페이스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713232" y="411480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 터미널 + Flask 웹 UI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SSE 실시간 토큰 스트리밍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3246120" y="3310128"/>
            <a:ext cx="2670048" cy="1508760"/>
          </a:xfrm>
          <a:prstGeom prst="rect">
            <a:avLst/>
          </a:prstGeom>
          <a:solidFill>
            <a:srgbClr val="162038"/>
          </a:solidFill>
          <a:ln w="9525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31" name="Shape 25"/>
          <p:cNvSpPr/>
          <p:nvPr/>
        </p:nvSpPr>
        <p:spPr>
          <a:xfrm>
            <a:off x="3246120" y="3310128"/>
            <a:ext cx="64008" cy="1508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2" name="Shape 26"/>
          <p:cNvSpPr/>
          <p:nvPr/>
        </p:nvSpPr>
        <p:spPr>
          <a:xfrm>
            <a:off x="3502152" y="3511296"/>
            <a:ext cx="502920" cy="502920"/>
          </a:xfrm>
          <a:prstGeom prst="ellipse">
            <a:avLst/>
          </a:prstGeom>
          <a:solidFill>
            <a:srgbClr val="0A0E1A"/>
          </a:solidFill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5304" y="3584448"/>
            <a:ext cx="356616" cy="35661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4114800" y="351129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Mode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3502152" y="411480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체인-오브-쏘트(CoT)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기능 내장</a:t>
            </a:r>
            <a:endParaRPr lang="en-US" sz="1050" dirty="0"/>
          </a:p>
        </p:txBody>
      </p:sp>
      <p:sp>
        <p:nvSpPr>
          <p:cNvPr id="36" name="Shape 29"/>
          <p:cNvSpPr/>
          <p:nvPr/>
        </p:nvSpPr>
        <p:spPr>
          <a:xfrm>
            <a:off x="6035040" y="3310128"/>
            <a:ext cx="2670048" cy="1508760"/>
          </a:xfrm>
          <a:prstGeom prst="rect">
            <a:avLst/>
          </a:prstGeom>
          <a:solidFill>
            <a:srgbClr val="162038"/>
          </a:solidFill>
          <a:ln w="9525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37" name="Shape 30"/>
          <p:cNvSpPr/>
          <p:nvPr/>
        </p:nvSpPr>
        <p:spPr>
          <a:xfrm>
            <a:off x="6035040" y="3310128"/>
            <a:ext cx="64008" cy="150876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8" name="Shape 31"/>
          <p:cNvSpPr/>
          <p:nvPr/>
        </p:nvSpPr>
        <p:spPr>
          <a:xfrm>
            <a:off x="6291072" y="3511296"/>
            <a:ext cx="502920" cy="502920"/>
          </a:xfrm>
          <a:prstGeom prst="ellipse">
            <a:avLst/>
          </a:prstGeom>
          <a:solidFill>
            <a:srgbClr val="0A0E1A"/>
          </a:solidFill>
          <a:ln w="1587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24" y="3584448"/>
            <a:ext cx="356616" cy="356616"/>
          </a:xfrm>
          <a:prstGeom prst="rect">
            <a:avLst/>
          </a:prstGeom>
        </p:spPr>
      </p:pic>
      <p:sp>
        <p:nvSpPr>
          <p:cNvPr id="40" name="Text 32"/>
          <p:cNvSpPr/>
          <p:nvPr/>
        </p:nvSpPr>
        <p:spPr>
          <a:xfrm>
            <a:off x="6903720" y="3511296"/>
            <a:ext cx="166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 지원</a:t>
            </a:r>
            <a:endParaRPr lang="en-US" sz="1400" dirty="0"/>
          </a:p>
        </p:txBody>
      </p:sp>
      <p:sp>
        <p:nvSpPr>
          <p:cNvPr id="41" name="Text 33"/>
          <p:cNvSpPr/>
          <p:nvPr/>
        </p:nvSpPr>
        <p:spPr>
          <a:xfrm>
            <a:off x="6291072" y="4114800"/>
            <a:ext cx="22128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한국어·영어 포함</a:t>
            </a:r>
            <a:endParaRPr lang="en-US" sz="105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5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201개 언어 처리</a:t>
            </a:r>
            <a:endParaRPr lang="en-US" sz="1050" dirty="0"/>
          </a:p>
        </p:txBody>
      </p:sp>
      <p:sp>
        <p:nvSpPr>
          <p:cNvPr id="42" name="Shape 3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3" name="Shape 35"/>
          <p:cNvSpPr/>
          <p:nvPr/>
        </p:nvSpPr>
        <p:spPr>
          <a:xfrm>
            <a:off x="457200" y="4978908"/>
            <a:ext cx="164592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4" name="Text 36"/>
          <p:cNvSpPr/>
          <p:nvPr/>
        </p:nvSpPr>
        <p:spPr>
          <a:xfrm>
            <a:off x="713232" y="48600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PROJECT OVERVIEW</a:t>
            </a:r>
            <a:endParaRPr lang="en-US" sz="900" dirty="0"/>
          </a:p>
        </p:txBody>
      </p:sp>
      <p:sp>
        <p:nvSpPr>
          <p:cNvPr id="45" name="Text 37"/>
          <p:cNvSpPr/>
          <p:nvPr/>
        </p:nvSpPr>
        <p:spPr>
          <a:xfrm>
            <a:off x="7772400" y="48600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· 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아키텍처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클라이언트 로직 위에 CLI · 웹 · 테스트 레이어가 모듈식으로 구성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" cy="5486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Shape 6"/>
          <p:cNvSpPr/>
          <p:nvPr/>
        </p:nvSpPr>
        <p:spPr>
          <a:xfrm>
            <a:off x="658368" y="1755648"/>
            <a:ext cx="329184" cy="329184"/>
          </a:xfrm>
          <a:prstGeom prst="ellipse">
            <a:avLst/>
          </a:prstGeom>
          <a:solidFill>
            <a:srgbClr val="0A0E1A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180136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97280" y="1709928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client.py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886200" y="1810512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0A0E1A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 9"/>
          <p:cNvSpPr/>
          <p:nvPr/>
        </p:nvSpPr>
        <p:spPr>
          <a:xfrm>
            <a:off x="3886200" y="181051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CORE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4663440" y="1709928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로직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080760" y="170992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클라이언트 · 모델 선택 · 스트리밍 함수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304288"/>
            <a:ext cx="8229600" cy="54864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Shape 13"/>
          <p:cNvSpPr/>
          <p:nvPr/>
        </p:nvSpPr>
        <p:spPr>
          <a:xfrm>
            <a:off x="457200" y="2304288"/>
            <a:ext cx="54864" cy="54864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Shape 14"/>
          <p:cNvSpPr/>
          <p:nvPr/>
        </p:nvSpPr>
        <p:spPr>
          <a:xfrm>
            <a:off x="658368" y="2414016"/>
            <a:ext cx="329184" cy="329184"/>
          </a:xfrm>
          <a:prstGeom prst="ellipse">
            <a:avLst/>
          </a:prstGeom>
          <a:solidFill>
            <a:srgbClr val="0A0E1A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2459736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097280" y="2368296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350" dirty="0"/>
          </a:p>
        </p:txBody>
      </p:sp>
      <p:sp>
        <p:nvSpPr>
          <p:cNvPr id="20" name="Shape 16"/>
          <p:cNvSpPr/>
          <p:nvPr/>
        </p:nvSpPr>
        <p:spPr>
          <a:xfrm>
            <a:off x="3886200" y="2468880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0A0E1A"/>
          </a:solidFill>
          <a:ln w="952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1" name="Text 17"/>
          <p:cNvSpPr/>
          <p:nvPr/>
        </p:nvSpPr>
        <p:spPr>
          <a:xfrm>
            <a:off x="3886200" y="2468880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4ECD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4663440" y="2368296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 클라이언트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080760" y="236829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터미널 채팅 · ANSI 컬러 · --think 플래그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457200" y="2962656"/>
            <a:ext cx="8229600" cy="54864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5" name="Shape 21"/>
          <p:cNvSpPr/>
          <p:nvPr/>
        </p:nvSpPr>
        <p:spPr>
          <a:xfrm>
            <a:off x="457200" y="2962656"/>
            <a:ext cx="54864" cy="548640"/>
          </a:xfrm>
          <a:prstGeom prst="rect">
            <a:avLst/>
          </a:prstGeom>
          <a:solidFill>
            <a:srgbClr val="5DCC8C"/>
          </a:solidFill>
          <a:ln w="12700">
            <a:solidFill>
              <a:srgbClr val="5DCC8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6" name="Shape 22"/>
          <p:cNvSpPr/>
          <p:nvPr/>
        </p:nvSpPr>
        <p:spPr>
          <a:xfrm>
            <a:off x="658368" y="3072384"/>
            <a:ext cx="329184" cy="329184"/>
          </a:xfrm>
          <a:prstGeom prst="ellipse">
            <a:avLst/>
          </a:prstGeom>
          <a:solidFill>
            <a:srgbClr val="0A0E1A"/>
          </a:solidFill>
          <a:ln w="12700">
            <a:solidFill>
              <a:srgbClr val="5DCC8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118104"/>
            <a:ext cx="237744" cy="23774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97280" y="3026664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350" dirty="0"/>
          </a:p>
        </p:txBody>
      </p:sp>
      <p:sp>
        <p:nvSpPr>
          <p:cNvPr id="29" name="Shape 24"/>
          <p:cNvSpPr/>
          <p:nvPr/>
        </p:nvSpPr>
        <p:spPr>
          <a:xfrm>
            <a:off x="3886200" y="3127248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0A0E1A"/>
          </a:solidFill>
          <a:ln w="9525">
            <a:solidFill>
              <a:srgbClr val="5DCC8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0" name="Text 25"/>
          <p:cNvSpPr/>
          <p:nvPr/>
        </p:nvSpPr>
        <p:spPr>
          <a:xfrm>
            <a:off x="3886200" y="312724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5DC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</a:t>
            </a:r>
            <a:endParaRPr lang="en-US" sz="800" dirty="0"/>
          </a:p>
        </p:txBody>
      </p:sp>
      <p:sp>
        <p:nvSpPr>
          <p:cNvPr id="31" name="Text 26"/>
          <p:cNvSpPr/>
          <p:nvPr/>
        </p:nvSpPr>
        <p:spPr>
          <a:xfrm>
            <a:off x="4663440" y="3026664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서버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6080760" y="302666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Flask + SSE 스트리밍 (포트 5000)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457200" y="3621024"/>
            <a:ext cx="8229600" cy="54864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4" name="Shape 29"/>
          <p:cNvSpPr/>
          <p:nvPr/>
        </p:nvSpPr>
        <p:spPr>
          <a:xfrm>
            <a:off x="457200" y="3621024"/>
            <a:ext cx="54864" cy="54864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Shape 30"/>
          <p:cNvSpPr/>
          <p:nvPr/>
        </p:nvSpPr>
        <p:spPr>
          <a:xfrm>
            <a:off x="658368" y="3730752"/>
            <a:ext cx="329184" cy="329184"/>
          </a:xfrm>
          <a:prstGeom prst="ellipse">
            <a:avLst/>
          </a:prstGeom>
          <a:solidFill>
            <a:srgbClr val="0A0E1A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3776472"/>
            <a:ext cx="237744" cy="23774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097280" y="3685032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templates/index.html</a:t>
            </a:r>
            <a:endParaRPr lang="en-US" sz="1350" dirty="0"/>
          </a:p>
        </p:txBody>
      </p:sp>
      <p:sp>
        <p:nvSpPr>
          <p:cNvPr id="38" name="Shape 32"/>
          <p:cNvSpPr/>
          <p:nvPr/>
        </p:nvSpPr>
        <p:spPr>
          <a:xfrm>
            <a:off x="3886200" y="3785616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0A0E1A"/>
          </a:solidFill>
          <a:ln w="9525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9" name="Text 33"/>
          <p:cNvSpPr/>
          <p:nvPr/>
        </p:nvSpPr>
        <p:spPr>
          <a:xfrm>
            <a:off x="3886200" y="3785616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FFB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</a:t>
            </a:r>
            <a:endParaRPr lang="en-US" sz="800" dirty="0"/>
          </a:p>
        </p:txBody>
      </p:sp>
      <p:sp>
        <p:nvSpPr>
          <p:cNvPr id="40" name="Text 34"/>
          <p:cNvSpPr/>
          <p:nvPr/>
        </p:nvSpPr>
        <p:spPr>
          <a:xfrm>
            <a:off x="4663440" y="3685032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UI</a:t>
            </a:r>
            <a:endParaRPr lang="en-US" sz="1150" dirty="0"/>
          </a:p>
        </p:txBody>
      </p:sp>
      <p:sp>
        <p:nvSpPr>
          <p:cNvPr id="41" name="Text 35"/>
          <p:cNvSpPr/>
          <p:nvPr/>
        </p:nvSpPr>
        <p:spPr>
          <a:xfrm>
            <a:off x="6080760" y="368503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채팅 · marked.js 마크다운 렌더링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457200" y="4279392"/>
            <a:ext cx="8229600" cy="54864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3" name="Shape 37"/>
          <p:cNvSpPr/>
          <p:nvPr/>
        </p:nvSpPr>
        <p:spPr>
          <a:xfrm>
            <a:off x="457200" y="4279392"/>
            <a:ext cx="54864" cy="548640"/>
          </a:xfrm>
          <a:prstGeom prst="rect">
            <a:avLst/>
          </a:prstGeom>
          <a:solidFill>
            <a:srgbClr val="B084EE"/>
          </a:solidFill>
          <a:ln w="12700">
            <a:solidFill>
              <a:srgbClr val="B084EE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4" name="Shape 38"/>
          <p:cNvSpPr/>
          <p:nvPr/>
        </p:nvSpPr>
        <p:spPr>
          <a:xfrm>
            <a:off x="658368" y="4389120"/>
            <a:ext cx="329184" cy="329184"/>
          </a:xfrm>
          <a:prstGeom prst="ellipse">
            <a:avLst/>
          </a:prstGeom>
          <a:solidFill>
            <a:srgbClr val="0A0E1A"/>
          </a:solidFill>
          <a:ln w="12700">
            <a:solidFill>
              <a:srgbClr val="B084EE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4434840"/>
            <a:ext cx="237744" cy="237744"/>
          </a:xfrm>
          <a:prstGeom prst="rect">
            <a:avLst/>
          </a:prstGeom>
        </p:spPr>
      </p:pic>
      <p:sp>
        <p:nvSpPr>
          <p:cNvPr id="46" name="Text 39"/>
          <p:cNvSpPr/>
          <p:nvPr/>
        </p:nvSpPr>
        <p:spPr>
          <a:xfrm>
            <a:off x="1097280" y="4343400"/>
            <a:ext cx="2743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smoke_test.py</a:t>
            </a:r>
            <a:endParaRPr lang="en-US" sz="1350" dirty="0"/>
          </a:p>
        </p:txBody>
      </p:sp>
      <p:sp>
        <p:nvSpPr>
          <p:cNvPr id="47" name="Shape 40"/>
          <p:cNvSpPr/>
          <p:nvPr/>
        </p:nvSpPr>
        <p:spPr>
          <a:xfrm>
            <a:off x="3886200" y="4443984"/>
            <a:ext cx="658368" cy="219456"/>
          </a:xfrm>
          <a:prstGeom prst="roundRect">
            <a:avLst>
              <a:gd name="adj" fmla="val 25000"/>
            </a:avLst>
          </a:prstGeom>
          <a:solidFill>
            <a:srgbClr val="0A0E1A"/>
          </a:solidFill>
          <a:ln w="9525">
            <a:solidFill>
              <a:srgbClr val="B084EE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8" name="Text 41"/>
          <p:cNvSpPr/>
          <p:nvPr/>
        </p:nvSpPr>
        <p:spPr>
          <a:xfrm>
            <a:off x="3886200" y="4443984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B084E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</a:t>
            </a:r>
            <a:endParaRPr lang="en-US" sz="800" dirty="0"/>
          </a:p>
        </p:txBody>
      </p:sp>
      <p:sp>
        <p:nvSpPr>
          <p:cNvPr id="49" name="Text 42"/>
          <p:cNvSpPr/>
          <p:nvPr/>
        </p:nvSpPr>
        <p:spPr>
          <a:xfrm>
            <a:off x="4663440" y="43434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테스트</a:t>
            </a:r>
            <a:endParaRPr lang="en-US" sz="1150" dirty="0"/>
          </a:p>
        </p:txBody>
      </p:sp>
      <p:sp>
        <p:nvSpPr>
          <p:cNvPr id="50" name="Text 43"/>
          <p:cNvSpPr/>
          <p:nvPr/>
        </p:nvSpPr>
        <p:spPr>
          <a:xfrm>
            <a:off x="6080760" y="434340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MLX API 서버 대상 자동 검증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2" name="Shape 45"/>
          <p:cNvSpPr/>
          <p:nvPr/>
        </p:nvSpPr>
        <p:spPr>
          <a:xfrm>
            <a:off x="457200" y="4978908"/>
            <a:ext cx="164592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3" name="Text 46"/>
          <p:cNvSpPr/>
          <p:nvPr/>
        </p:nvSpPr>
        <p:spPr>
          <a:xfrm>
            <a:off x="713232" y="48600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ARCHITECTURE · FILE STRUCTURE</a:t>
            </a:r>
            <a:endParaRPr lang="en-US" sz="900" dirty="0"/>
          </a:p>
        </p:txBody>
      </p:sp>
      <p:sp>
        <p:nvSpPr>
          <p:cNvPr id="54" name="Text 47"/>
          <p:cNvSpPr/>
          <p:nvPr/>
        </p:nvSpPr>
        <p:spPr>
          <a:xfrm>
            <a:off x="7772400" y="48600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· ML FRAMEWORK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MLX — Apple Silicon 전용 ML 프레임워크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메모리 아키텍처에 최적화된 Apple의 오픈소스 머신러닝 프레임워크 (2023~)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291840" cy="2743200"/>
          </a:xfrm>
          <a:prstGeom prst="rect">
            <a:avLst/>
          </a:prstGeom>
          <a:solidFill>
            <a:srgbClr val="162038"/>
          </a:solidFill>
          <a:ln w="9525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329184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82880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251460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600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MLX</a:t>
            </a:r>
            <a:endParaRPr lang="en-US" sz="7200" dirty="0"/>
          </a:p>
        </p:txBody>
      </p:sp>
      <p:sp>
        <p:nvSpPr>
          <p:cNvPr id="10" name="Text 7"/>
          <p:cNvSpPr/>
          <p:nvPr/>
        </p:nvSpPr>
        <p:spPr>
          <a:xfrm>
            <a:off x="457200" y="3337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800" dirty="0">
                <a:solidFill>
                  <a:srgbClr val="4ECD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645920" y="3703320"/>
            <a:ext cx="914400" cy="0"/>
          </a:xfrm>
          <a:prstGeom prst="line">
            <a:avLst/>
          </a:prstGeom>
          <a:noFill/>
          <a:ln w="1270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 9"/>
          <p:cNvSpPr/>
          <p:nvPr/>
        </p:nvSpPr>
        <p:spPr>
          <a:xfrm>
            <a:off x="45720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 · M2 · M3 · M4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04164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Apple Silicon Optimized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931920" y="1737360"/>
            <a:ext cx="384048" cy="384048"/>
          </a:xfrm>
          <a:prstGeom prst="ellipse">
            <a:avLst/>
          </a:prstGeom>
          <a:solidFill>
            <a:srgbClr val="0A0E1A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784" y="1792224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434840" y="1691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Apple Silicon 최적화 설계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434840" y="194767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M1·M2·M3·M4 칩의 GPU/Neural Engine 활용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931920" y="2340864"/>
            <a:ext cx="384048" cy="384048"/>
          </a:xfrm>
          <a:prstGeom prst="ellipse">
            <a:avLst/>
          </a:prstGeom>
          <a:solidFill>
            <a:srgbClr val="0A0E1A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6784" y="2395728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34840" y="229514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 메모리(Unified Memory)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4434840" y="255117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CPU/GPU 간 데이터 복사 불필요 → 고속 추론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931920" y="2944368"/>
            <a:ext cx="384048" cy="384048"/>
          </a:xfrm>
          <a:prstGeom prst="ellipse">
            <a:avLst/>
          </a:prstGeom>
          <a:solidFill>
            <a:srgbClr val="0A0E1A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6784" y="299923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434840" y="289864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NumPy 스타일 API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4434840" y="31546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익숙한 인터페이스로 쉽게 사용 가능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931920" y="3547872"/>
            <a:ext cx="384048" cy="384048"/>
          </a:xfrm>
          <a:prstGeom prst="ellipse">
            <a:avLst/>
          </a:prstGeom>
          <a:solidFill>
            <a:srgbClr val="0A0E1A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86784" y="3602736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434840" y="35021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mlx-lm으로 LLM 추론 최적화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434840" y="375818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호환 API 제공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931920" y="429768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162038"/>
          </a:solidFill>
          <a:ln w="12700">
            <a:solidFill>
              <a:srgbClr val="5DCC8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1" name="Text 24"/>
          <p:cNvSpPr/>
          <p:nvPr/>
        </p:nvSpPr>
        <p:spPr>
          <a:xfrm>
            <a:off x="3931920" y="42976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5DC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오프라인 동작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5148072" y="429768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162038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3" name="Text 26"/>
          <p:cNvSpPr/>
          <p:nvPr/>
        </p:nvSpPr>
        <p:spPr>
          <a:xfrm>
            <a:off x="5148072" y="42976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ECD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프라이버시 보장</a:t>
            </a:r>
            <a:endParaRPr lang="en-US" sz="950" dirty="0"/>
          </a:p>
        </p:txBody>
      </p:sp>
      <p:sp>
        <p:nvSpPr>
          <p:cNvPr id="34" name="Shape 27"/>
          <p:cNvSpPr/>
          <p:nvPr/>
        </p:nvSpPr>
        <p:spPr>
          <a:xfrm>
            <a:off x="6364224" y="429768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162038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Text 28"/>
          <p:cNvSpPr/>
          <p:nvPr/>
        </p:nvSpPr>
        <p:spPr>
          <a:xfrm>
            <a:off x="6364224" y="42976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B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제로 레이턴시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7580376" y="4297680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162038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7" name="Text 30"/>
          <p:cNvSpPr/>
          <p:nvPr/>
        </p:nvSpPr>
        <p:spPr>
          <a:xfrm>
            <a:off x="7580376" y="4297680"/>
            <a:ext cx="11704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₩0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9" name="Shape 32"/>
          <p:cNvSpPr/>
          <p:nvPr/>
        </p:nvSpPr>
        <p:spPr>
          <a:xfrm>
            <a:off x="457200" y="4978908"/>
            <a:ext cx="164592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0" name="Text 33"/>
          <p:cNvSpPr/>
          <p:nvPr/>
        </p:nvSpPr>
        <p:spPr>
          <a:xfrm>
            <a:off x="713232" y="48600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MLX · APPLE SILICON ML FRAMEWORK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7772400" y="48600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· LLM MODEL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Qwen3.5-9B-MLX-4bit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Alibaba Cloud의 9B 파라미터 MoE 모델 — 4-bit 양자화로 16GB Mac에서 동작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993392" cy="105156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993392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Text 6"/>
          <p:cNvSpPr/>
          <p:nvPr/>
        </p:nvSpPr>
        <p:spPr>
          <a:xfrm>
            <a:off x="457200" y="1664208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9B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PARAMETERS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9464" y="1600200"/>
            <a:ext cx="1993392" cy="105156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1" name="Shape 9"/>
          <p:cNvSpPr/>
          <p:nvPr/>
        </p:nvSpPr>
        <p:spPr>
          <a:xfrm>
            <a:off x="2569464" y="1600200"/>
            <a:ext cx="1993392" cy="4572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2" name="Text 10"/>
          <p:cNvSpPr/>
          <p:nvPr/>
        </p:nvSpPr>
        <p:spPr>
          <a:xfrm>
            <a:off x="2569464" y="1664208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4-bit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2569464" y="228600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4ECD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QUANTIZATION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681728" y="1600200"/>
            <a:ext cx="1993392" cy="105156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5" name="Shape 13"/>
          <p:cNvSpPr/>
          <p:nvPr/>
        </p:nvSpPr>
        <p:spPr>
          <a:xfrm>
            <a:off x="4681728" y="1600200"/>
            <a:ext cx="1993392" cy="4572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Text 14"/>
          <p:cNvSpPr/>
          <p:nvPr/>
        </p:nvSpPr>
        <p:spPr>
          <a:xfrm>
            <a:off x="4681728" y="1664208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5.6GB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4681728" y="228600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FFB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DISK SIZE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93992" y="1600200"/>
            <a:ext cx="1993392" cy="105156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9" name="Shape 17"/>
          <p:cNvSpPr/>
          <p:nvPr/>
        </p:nvSpPr>
        <p:spPr>
          <a:xfrm>
            <a:off x="6793992" y="1600200"/>
            <a:ext cx="1993392" cy="45720"/>
          </a:xfrm>
          <a:prstGeom prst="rect">
            <a:avLst/>
          </a:prstGeom>
          <a:solidFill>
            <a:srgbClr val="5DCC8C"/>
          </a:solidFill>
          <a:ln w="12700">
            <a:solidFill>
              <a:srgbClr val="5DCC8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ext 18"/>
          <p:cNvSpPr/>
          <p:nvPr/>
        </p:nvSpPr>
        <p:spPr>
          <a:xfrm>
            <a:off x="6793992" y="1664208"/>
            <a:ext cx="19933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262K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793992" y="2286000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5DC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CONTEXT WINDOW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4069080" cy="310896"/>
          </a:xfrm>
          <a:prstGeom prst="rect">
            <a:avLst/>
          </a:prstGeom>
          <a:solidFill>
            <a:srgbClr val="162038"/>
          </a:solidFill>
          <a:ln w="508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2834640"/>
            <a:ext cx="45720" cy="3108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4" name="Text 22"/>
          <p:cNvSpPr/>
          <p:nvPr/>
        </p:nvSpPr>
        <p:spPr>
          <a:xfrm>
            <a:off x="621792" y="28346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개발사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828800" y="283464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Alibaba Cloud (통의천문)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2834640"/>
            <a:ext cx="4069080" cy="310896"/>
          </a:xfrm>
          <a:prstGeom prst="rect">
            <a:avLst/>
          </a:prstGeom>
          <a:solidFill>
            <a:srgbClr val="162038"/>
          </a:solidFill>
          <a:ln w="508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7" name="Shape 25"/>
          <p:cNvSpPr/>
          <p:nvPr/>
        </p:nvSpPr>
        <p:spPr>
          <a:xfrm>
            <a:off x="4617720" y="2834640"/>
            <a:ext cx="45720" cy="3108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8" name="Text 26"/>
          <p:cNvSpPr/>
          <p:nvPr/>
        </p:nvSpPr>
        <p:spPr>
          <a:xfrm>
            <a:off x="4782312" y="28346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89320" y="283464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Gated DeltaNet + MoE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200400"/>
            <a:ext cx="4069080" cy="310896"/>
          </a:xfrm>
          <a:prstGeom prst="rect">
            <a:avLst/>
          </a:prstGeom>
          <a:solidFill>
            <a:srgbClr val="162038"/>
          </a:solidFill>
          <a:ln w="508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1" name="Shape 29"/>
          <p:cNvSpPr/>
          <p:nvPr/>
        </p:nvSpPr>
        <p:spPr>
          <a:xfrm>
            <a:off x="457200" y="3200400"/>
            <a:ext cx="45720" cy="3108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2" name="Text 30"/>
          <p:cNvSpPr/>
          <p:nvPr/>
        </p:nvSpPr>
        <p:spPr>
          <a:xfrm>
            <a:off x="621792" y="32004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사용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828800" y="320040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~6.0–7.0 GB (추론 시)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3200400"/>
            <a:ext cx="4069080" cy="310896"/>
          </a:xfrm>
          <a:prstGeom prst="rect">
            <a:avLst/>
          </a:prstGeom>
          <a:solidFill>
            <a:srgbClr val="162038"/>
          </a:solidFill>
          <a:ln w="508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5" name="Shape 33"/>
          <p:cNvSpPr/>
          <p:nvPr/>
        </p:nvSpPr>
        <p:spPr>
          <a:xfrm>
            <a:off x="4617720" y="3200400"/>
            <a:ext cx="45720" cy="3108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6" name="Text 34"/>
          <p:cNvSpPr/>
          <p:nvPr/>
        </p:nvSpPr>
        <p:spPr>
          <a:xfrm>
            <a:off x="4782312" y="320040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 그룹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989320" y="320040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Group Size: 64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3566160"/>
            <a:ext cx="4069080" cy="310896"/>
          </a:xfrm>
          <a:prstGeom prst="rect">
            <a:avLst/>
          </a:prstGeom>
          <a:solidFill>
            <a:srgbClr val="162038"/>
          </a:solidFill>
          <a:ln w="508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9" name="Shape 37"/>
          <p:cNvSpPr/>
          <p:nvPr/>
        </p:nvSpPr>
        <p:spPr>
          <a:xfrm>
            <a:off x="457200" y="3566160"/>
            <a:ext cx="45720" cy="3108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0" name="Text 38"/>
          <p:cNvSpPr/>
          <p:nvPr/>
        </p:nvSpPr>
        <p:spPr>
          <a:xfrm>
            <a:off x="62179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라이선스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828800" y="35661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Apache 2.0 (상업적 사용 가능)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617720" y="3566160"/>
            <a:ext cx="4069080" cy="310896"/>
          </a:xfrm>
          <a:prstGeom prst="rect">
            <a:avLst/>
          </a:prstGeom>
          <a:solidFill>
            <a:srgbClr val="162038"/>
          </a:solidFill>
          <a:ln w="508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3" name="Shape 41"/>
          <p:cNvSpPr/>
          <p:nvPr/>
        </p:nvSpPr>
        <p:spPr>
          <a:xfrm>
            <a:off x="4617720" y="3566160"/>
            <a:ext cx="45720" cy="3108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4" name="Text 42"/>
          <p:cNvSpPr/>
          <p:nvPr/>
        </p:nvSpPr>
        <p:spPr>
          <a:xfrm>
            <a:off x="47823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989320" y="356616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201개 언어 지원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3931920"/>
            <a:ext cx="4069080" cy="310896"/>
          </a:xfrm>
          <a:prstGeom prst="rect">
            <a:avLst/>
          </a:prstGeom>
          <a:solidFill>
            <a:srgbClr val="162038"/>
          </a:solidFill>
          <a:ln w="508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7" name="Shape 45"/>
          <p:cNvSpPr/>
          <p:nvPr/>
        </p:nvSpPr>
        <p:spPr>
          <a:xfrm>
            <a:off x="457200" y="3931920"/>
            <a:ext cx="45720" cy="3108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8" name="Text 46"/>
          <p:cNvSpPr/>
          <p:nvPr/>
        </p:nvSpPr>
        <p:spPr>
          <a:xfrm>
            <a:off x="621792" y="39319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828800" y="393192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Vision-Language 통합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617720" y="3931920"/>
            <a:ext cx="4069080" cy="310896"/>
          </a:xfrm>
          <a:prstGeom prst="rect">
            <a:avLst/>
          </a:prstGeom>
          <a:solidFill>
            <a:srgbClr val="162038"/>
          </a:solidFill>
          <a:ln w="508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1" name="Shape 49"/>
          <p:cNvSpPr/>
          <p:nvPr/>
        </p:nvSpPr>
        <p:spPr>
          <a:xfrm>
            <a:off x="4617720" y="3931920"/>
            <a:ext cx="45720" cy="310896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2" name="Text 50"/>
          <p:cNvSpPr/>
          <p:nvPr/>
        </p:nvSpPr>
        <p:spPr>
          <a:xfrm>
            <a:off x="4782312" y="39319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989320" y="3931920"/>
            <a:ext cx="2606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Mode 내장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5" name="Shape 53"/>
          <p:cNvSpPr/>
          <p:nvPr/>
        </p:nvSpPr>
        <p:spPr>
          <a:xfrm>
            <a:off x="457200" y="4978908"/>
            <a:ext cx="164592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6" name="Text 54"/>
          <p:cNvSpPr/>
          <p:nvPr/>
        </p:nvSpPr>
        <p:spPr>
          <a:xfrm>
            <a:off x="713232" y="48600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MODEL · QWEN3.5-9B-MLX-4BIT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7772400" y="48600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· BENCHMARKS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 — 언어 &amp; 추론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9B 모델이 120B 모델을 다수 벤치마크에서 능가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8229600" cy="260604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594360" y="1691640"/>
          <a:ext cx="795528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1F2D4D"/>
          </a:solidFill>
          <a:ln w="952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" name="Shape 6"/>
          <p:cNvSpPr/>
          <p:nvPr/>
        </p:nvSpPr>
        <p:spPr>
          <a:xfrm>
            <a:off x="457200" y="4297680"/>
            <a:ext cx="64008" cy="4572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370832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7280" y="4297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INSIGHT  </a:t>
            </a:r>
            <a:r>
              <a:rPr lang="en-US" sz="1150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9B 모델이 13배 큰 GPT-OSS-120B를 7개 벤치마크 중 5개에서 능가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3" name="Shape 9"/>
          <p:cNvSpPr/>
          <p:nvPr/>
        </p:nvSpPr>
        <p:spPr>
          <a:xfrm>
            <a:off x="457200" y="4978908"/>
            <a:ext cx="164592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10"/>
          <p:cNvSpPr/>
          <p:nvPr/>
        </p:nvSpPr>
        <p:spPr>
          <a:xfrm>
            <a:off x="713232" y="48600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BENCHMARKS · LANGUAGE &amp; REASONING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772400" y="48600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· BENCHMARKS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벤치마크 — 멀티모달 &amp; 비전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Vision 벤치마크에서 GPT-5-Nano, Gemini 2.5 Flash-Lite를 큰 폭으로 추월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5486400" cy="315468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graphicFrame>
        <p:nvGraphicFramePr>
          <p:cNvPr id="7" name="Chart 0"/>
          <p:cNvGraphicFramePr/>
          <p:nvPr/>
        </p:nvGraphicFramePr>
        <p:xfrm>
          <a:off x="548640" y="1691640"/>
          <a:ext cx="530352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6126480" y="1600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B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ONLY-IN-QWEN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126480" y="1920240"/>
            <a:ext cx="2560320" cy="86868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0" name="Shape 7"/>
          <p:cNvSpPr/>
          <p:nvPr/>
        </p:nvSpPr>
        <p:spPr>
          <a:xfrm>
            <a:off x="6126480" y="1920240"/>
            <a:ext cx="64008" cy="86868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1" name="Text 8"/>
          <p:cNvSpPr/>
          <p:nvPr/>
        </p:nvSpPr>
        <p:spPr>
          <a:xfrm>
            <a:off x="6263640" y="19659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B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84.5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6263640" y="239572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Video-MME (자막)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263640" y="25877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Gemini 74.6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126480" y="2880360"/>
            <a:ext cx="2560320" cy="86868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5" name="Shape 12"/>
          <p:cNvSpPr/>
          <p:nvPr/>
        </p:nvSpPr>
        <p:spPr>
          <a:xfrm>
            <a:off x="6126480" y="2880360"/>
            <a:ext cx="64008" cy="86868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Text 13"/>
          <p:cNvSpPr/>
          <p:nvPr/>
        </p:nvSpPr>
        <p:spPr>
          <a:xfrm>
            <a:off x="6263640" y="2926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B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87.7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6263640" y="335584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OmniDocBench v1.5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263640" y="354787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독자 우위 영역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0" name="Text 17"/>
          <p:cNvSpPr/>
          <p:nvPr/>
        </p:nvSpPr>
        <p:spPr>
          <a:xfrm>
            <a:off x="457200" y="45720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huggingface.co/Qwen/Qwen3.5-9B 공식 벤치마크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2" name="Shape 19"/>
          <p:cNvSpPr/>
          <p:nvPr/>
        </p:nvSpPr>
        <p:spPr>
          <a:xfrm>
            <a:off x="457200" y="4978908"/>
            <a:ext cx="164592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3" name="Text 20"/>
          <p:cNvSpPr/>
          <p:nvPr/>
        </p:nvSpPr>
        <p:spPr>
          <a:xfrm>
            <a:off x="713232" y="48600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BENCHMARKS · MULTIMODAL &amp; VISION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772400" y="48600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· HARDWARE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하드웨어 환경 및 요구사항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4-bit 양자화 덕분에 16GB Mac에서 9B 모델 실행 가능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4ECD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 TIERS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4846320" cy="475488"/>
          </a:xfrm>
          <a:prstGeom prst="rect">
            <a:avLst/>
          </a:prstGeom>
          <a:solidFill>
            <a:srgbClr val="1F2D4D"/>
          </a:solidFill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54864" cy="47548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/>
          <p:nvPr/>
        </p:nvSpPr>
        <p:spPr>
          <a:xfrm>
            <a:off x="640080" y="192024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4-bit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1920240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~6.0–7.0 GB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192024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GB Mac (현재 사용)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87168"/>
            <a:ext cx="4846320" cy="475488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2487168"/>
            <a:ext cx="54864" cy="475488"/>
          </a:xfrm>
          <a:prstGeom prst="rect">
            <a:avLst/>
          </a:prstGeom>
          <a:solidFill>
            <a:srgbClr val="8A95B0"/>
          </a:solidFill>
          <a:ln w="12700">
            <a:solidFill>
              <a:srgbClr val="8A95B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4" name="Text 12"/>
          <p:cNvSpPr/>
          <p:nvPr/>
        </p:nvSpPr>
        <p:spPr>
          <a:xfrm>
            <a:off x="640080" y="248716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6-bit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2487168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~7.9 GB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48716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GB+ Mac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054096"/>
            <a:ext cx="4846320" cy="475488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8" name="Shape 16"/>
          <p:cNvSpPr/>
          <p:nvPr/>
        </p:nvSpPr>
        <p:spPr>
          <a:xfrm>
            <a:off x="457200" y="3054096"/>
            <a:ext cx="54864" cy="475488"/>
          </a:xfrm>
          <a:prstGeom prst="rect">
            <a:avLst/>
          </a:prstGeom>
          <a:solidFill>
            <a:srgbClr val="8A95B0"/>
          </a:solidFill>
          <a:ln w="12700">
            <a:solidFill>
              <a:srgbClr val="8A95B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9" name="Text 17"/>
          <p:cNvSpPr/>
          <p:nvPr/>
        </p:nvSpPr>
        <p:spPr>
          <a:xfrm>
            <a:off x="640080" y="305409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8-bit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3054096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~10.4 GB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305409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GB+ Mac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621024"/>
            <a:ext cx="4846320" cy="475488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3621024"/>
            <a:ext cx="54864" cy="475488"/>
          </a:xfrm>
          <a:prstGeom prst="rect">
            <a:avLst/>
          </a:prstGeom>
          <a:solidFill>
            <a:srgbClr val="8A95B0"/>
          </a:solidFill>
          <a:ln w="12700">
            <a:solidFill>
              <a:srgbClr val="8A95B0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4" name="Text 22"/>
          <p:cNvSpPr/>
          <p:nvPr/>
        </p:nvSpPr>
        <p:spPr>
          <a:xfrm>
            <a:off x="640080" y="3621024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FP16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0200" y="3621024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~20.3 GB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362102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 GB+ Mac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32120" y="1600200"/>
            <a:ext cx="3154680" cy="3154680"/>
          </a:xfrm>
          <a:prstGeom prst="rect">
            <a:avLst/>
          </a:prstGeom>
          <a:solidFill>
            <a:srgbClr val="162038"/>
          </a:solidFill>
          <a:ln w="9525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28" name="Shape 26"/>
          <p:cNvSpPr/>
          <p:nvPr/>
        </p:nvSpPr>
        <p:spPr>
          <a:xfrm>
            <a:off x="5532120" y="1600200"/>
            <a:ext cx="3154680" cy="54864"/>
          </a:xfrm>
          <a:prstGeom prst="rect">
            <a:avLst/>
          </a:prstGeom>
          <a:solidFill>
            <a:srgbClr val="5DCC8C"/>
          </a:solidFill>
          <a:ln w="12700">
            <a:solidFill>
              <a:srgbClr val="5DCC8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783080"/>
            <a:ext cx="365760" cy="36576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617220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DC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TEST ENVIRONMENT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715000" y="2240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 Mini (2024)</a:t>
            </a:r>
            <a:endParaRPr lang="en-US" sz="1700" dirty="0"/>
          </a:p>
        </p:txBody>
      </p:sp>
      <p:sp>
        <p:nvSpPr>
          <p:cNvPr id="32" name="Text 29"/>
          <p:cNvSpPr/>
          <p:nvPr/>
        </p:nvSpPr>
        <p:spPr>
          <a:xfrm>
            <a:off x="5715000" y="25420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Apple M4 · 16 GB Unified Memory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715000" y="2907792"/>
            <a:ext cx="2788920" cy="0"/>
          </a:xfrm>
          <a:prstGeom prst="line">
            <a:avLst/>
          </a:prstGeom>
          <a:noFill/>
          <a:ln w="9525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4" name="Text 31"/>
          <p:cNvSpPr/>
          <p:nvPr/>
        </p:nvSpPr>
        <p:spPr>
          <a:xfrm>
            <a:off x="5715000" y="3017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추론 속도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715000" y="321868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DC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25–35</a:t>
            </a:r>
            <a:r>
              <a:rPr lang="en-US" sz="11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tok/s</a:t>
            </a:r>
            <a:endParaRPr lang="en-US" sz="2800" dirty="0"/>
          </a:p>
        </p:txBody>
      </p:sp>
      <p:sp>
        <p:nvSpPr>
          <p:cNvPr id="36" name="Text 33"/>
          <p:cNvSpPr/>
          <p:nvPr/>
        </p:nvSpPr>
        <p:spPr>
          <a:xfrm>
            <a:off x="5715000" y="38404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점유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715000" y="40416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5DC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~6.5</a:t>
            </a:r>
            <a:r>
              <a:rPr lang="en-US" sz="11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GB</a:t>
            </a:r>
            <a:endParaRPr lang="en-US" sz="2800" dirty="0"/>
          </a:p>
        </p:txBody>
      </p:sp>
      <p:sp>
        <p:nvSpPr>
          <p:cNvPr id="38" name="Shape 35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9" name="Shape 36"/>
          <p:cNvSpPr/>
          <p:nvPr/>
        </p:nvSpPr>
        <p:spPr>
          <a:xfrm>
            <a:off x="457200" y="4978908"/>
            <a:ext cx="164592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0" name="Text 37"/>
          <p:cNvSpPr/>
          <p:nvPr/>
        </p:nvSpPr>
        <p:spPr>
          <a:xfrm>
            <a:off x="713232" y="48600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HARDWARE · MEMORY TIERS &amp; TEST ENV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7772400" y="48600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· QUICKSTART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방법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MLX 서버 위에 CLI · 웹 UI · 테스트 클라이언트를 순차적으로 실행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23360" cy="141732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68680" cy="141732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54864" cy="14173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868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417320" y="16916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MLX 서버 시작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196596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터미널에서 실행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17320" y="2313432"/>
            <a:ext cx="2926080" cy="502920"/>
          </a:xfrm>
          <a:prstGeom prst="rect">
            <a:avLst/>
          </a:prstGeom>
          <a:solidFill>
            <a:srgbClr val="0A0E1A"/>
          </a:solidFill>
          <a:ln w="635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3" name="Text 11"/>
          <p:cNvSpPr/>
          <p:nvPr/>
        </p:nvSpPr>
        <p:spPr>
          <a:xfrm>
            <a:off x="1508760" y="23134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</a:t>
            </a:r>
            <a:r>
              <a:rPr lang="en-US" sz="10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uvx --from mlx-lm mlx_lm.server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600200"/>
            <a:ext cx="4023360" cy="141732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5" name="Shape 13"/>
          <p:cNvSpPr/>
          <p:nvPr/>
        </p:nvSpPr>
        <p:spPr>
          <a:xfrm>
            <a:off x="4663440" y="1600200"/>
            <a:ext cx="868680" cy="141732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Shape 14"/>
          <p:cNvSpPr/>
          <p:nvPr/>
        </p:nvSpPr>
        <p:spPr>
          <a:xfrm>
            <a:off x="4663440" y="1600200"/>
            <a:ext cx="54864" cy="141732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7" name="Text 15"/>
          <p:cNvSpPr/>
          <p:nvPr/>
        </p:nvSpPr>
        <p:spPr>
          <a:xfrm>
            <a:off x="4663440" y="1600200"/>
            <a:ext cx="868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ECD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623560" y="16916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 클라이언트 실행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623560" y="196596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모드 토글 가능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623560" y="2313432"/>
            <a:ext cx="2926080" cy="502920"/>
          </a:xfrm>
          <a:prstGeom prst="rect">
            <a:avLst/>
          </a:prstGeom>
          <a:solidFill>
            <a:srgbClr val="0A0E1A"/>
          </a:solidFill>
          <a:ln w="635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1" name="Text 19"/>
          <p:cNvSpPr/>
          <p:nvPr/>
        </p:nvSpPr>
        <p:spPr>
          <a:xfrm>
            <a:off x="5715000" y="23134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</a:t>
            </a:r>
            <a:r>
              <a:rPr lang="en-US" sz="10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main.py --think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4023360" cy="141732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868680" cy="141732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4" name="Shape 22"/>
          <p:cNvSpPr/>
          <p:nvPr/>
        </p:nvSpPr>
        <p:spPr>
          <a:xfrm>
            <a:off x="457200" y="3200400"/>
            <a:ext cx="54864" cy="141732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5" name="Text 23"/>
          <p:cNvSpPr/>
          <p:nvPr/>
        </p:nvSpPr>
        <p:spPr>
          <a:xfrm>
            <a:off x="457200" y="3200400"/>
            <a:ext cx="868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B4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1417320" y="32918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웹 UI 실행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356616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브라우저에서 접속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417320" y="3913632"/>
            <a:ext cx="2926080" cy="502920"/>
          </a:xfrm>
          <a:prstGeom prst="rect">
            <a:avLst/>
          </a:prstGeom>
          <a:solidFill>
            <a:srgbClr val="0A0E1A"/>
          </a:solidFill>
          <a:ln w="635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9" name="Text 27"/>
          <p:cNvSpPr/>
          <p:nvPr/>
        </p:nvSpPr>
        <p:spPr>
          <a:xfrm>
            <a:off x="1508760" y="39136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B4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</a:t>
            </a:r>
            <a:r>
              <a:rPr lang="en-US" sz="10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app.py   # :5000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200400"/>
            <a:ext cx="4023360" cy="141732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31" name="Shape 29"/>
          <p:cNvSpPr/>
          <p:nvPr/>
        </p:nvSpPr>
        <p:spPr>
          <a:xfrm>
            <a:off x="4663440" y="3200400"/>
            <a:ext cx="868680" cy="1417320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2" name="Shape 30"/>
          <p:cNvSpPr/>
          <p:nvPr/>
        </p:nvSpPr>
        <p:spPr>
          <a:xfrm>
            <a:off x="4663440" y="3200400"/>
            <a:ext cx="54864" cy="1417320"/>
          </a:xfrm>
          <a:prstGeom prst="rect">
            <a:avLst/>
          </a:prstGeom>
          <a:solidFill>
            <a:srgbClr val="5DCC8C"/>
          </a:solidFill>
          <a:ln w="12700">
            <a:solidFill>
              <a:srgbClr val="5DCC8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3" name="Text 31"/>
          <p:cNvSpPr/>
          <p:nvPr/>
        </p:nvSpPr>
        <p:spPr>
          <a:xfrm>
            <a:off x="4663440" y="3200400"/>
            <a:ext cx="8686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DCC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200" dirty="0"/>
          </a:p>
        </p:txBody>
      </p:sp>
      <p:sp>
        <p:nvSpPr>
          <p:cNvPr id="34" name="Text 32"/>
          <p:cNvSpPr/>
          <p:nvPr/>
        </p:nvSpPr>
        <p:spPr>
          <a:xfrm>
            <a:off x="5623560" y="32918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스모크 테스트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623560" y="356616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통합 자동 검증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623560" y="3913632"/>
            <a:ext cx="2926080" cy="502920"/>
          </a:xfrm>
          <a:prstGeom prst="rect">
            <a:avLst/>
          </a:prstGeom>
          <a:solidFill>
            <a:srgbClr val="0A0E1A"/>
          </a:solidFill>
          <a:ln w="6350">
            <a:solidFill>
              <a:srgbClr val="2A3553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7" name="Text 35"/>
          <p:cNvSpPr/>
          <p:nvPr/>
        </p:nvSpPr>
        <p:spPr>
          <a:xfrm>
            <a:off x="5715000" y="391363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DCC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 </a:t>
            </a:r>
            <a:r>
              <a:rPr lang="en-US" sz="1000" dirty="0">
                <a:solidFill>
                  <a:srgbClr val="E8EA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run smoke_test.py --think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9" name="Shape 37"/>
          <p:cNvSpPr/>
          <p:nvPr/>
        </p:nvSpPr>
        <p:spPr>
          <a:xfrm>
            <a:off x="457200" y="4978908"/>
            <a:ext cx="164592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0" name="Text 38"/>
          <p:cNvSpPr/>
          <p:nvPr/>
        </p:nvSpPr>
        <p:spPr>
          <a:xfrm>
            <a:off x="713232" y="48600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QUICKSTART · RUN INSTRUCTIONS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72400" y="48600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64592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" name="Text 1"/>
          <p:cNvSpPr/>
          <p:nvPr/>
        </p:nvSpPr>
        <p:spPr>
          <a:xfrm>
            <a:off x="713232" y="274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FF6B3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 ·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 &amp; 데모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경험을 강화하는 7가지 핵심 기능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2670048" cy="96012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670048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8" name="Shape 6"/>
          <p:cNvSpPr/>
          <p:nvPr/>
        </p:nvSpPr>
        <p:spPr>
          <a:xfrm>
            <a:off x="2761488" y="1691640"/>
            <a:ext cx="201168" cy="201168"/>
          </a:xfrm>
          <a:prstGeom prst="ellipse">
            <a:avLst/>
          </a:prstGeom>
          <a:solidFill>
            <a:srgbClr val="0A0E1A"/>
          </a:solidFill>
          <a:ln w="12700">
            <a:solidFill>
              <a:srgbClr val="5DCC8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632" y="1700784"/>
            <a:ext cx="182880" cy="1828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1755648"/>
            <a:ext cx="457200" cy="457200"/>
          </a:xfrm>
          <a:prstGeom prst="ellipse">
            <a:avLst/>
          </a:prstGeom>
          <a:solidFill>
            <a:srgbClr val="0A0E1A"/>
          </a:solidFill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1819656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70432" y="1719072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다회전 대화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1170432" y="199339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채팅 히스토리 유지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46120" y="1554480"/>
            <a:ext cx="2670048" cy="96012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15" name="Shape 11"/>
          <p:cNvSpPr/>
          <p:nvPr/>
        </p:nvSpPr>
        <p:spPr>
          <a:xfrm>
            <a:off x="3246120" y="1554480"/>
            <a:ext cx="2670048" cy="4572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16" name="Shape 12"/>
          <p:cNvSpPr/>
          <p:nvPr/>
        </p:nvSpPr>
        <p:spPr>
          <a:xfrm>
            <a:off x="5550408" y="1691640"/>
            <a:ext cx="201168" cy="201168"/>
          </a:xfrm>
          <a:prstGeom prst="ellipse">
            <a:avLst/>
          </a:prstGeom>
          <a:solidFill>
            <a:srgbClr val="0A0E1A"/>
          </a:solidFill>
          <a:ln w="12700">
            <a:solidFill>
              <a:srgbClr val="5DCC8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1700784"/>
            <a:ext cx="182880" cy="18288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429000" y="1755648"/>
            <a:ext cx="457200" cy="457200"/>
          </a:xfrm>
          <a:prstGeom prst="ellipse">
            <a:avLst/>
          </a:prstGeom>
          <a:solidFill>
            <a:srgbClr val="0A0E1A"/>
          </a:solidFill>
          <a:ln w="1587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3008" y="1819656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59352" y="1719072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SSE 스트리밍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3959352" y="199339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토큰별 실시간 응답 (CLI &amp; Web)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6035040" y="1554480"/>
            <a:ext cx="2670048" cy="96012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23" name="Shape 17"/>
          <p:cNvSpPr/>
          <p:nvPr/>
        </p:nvSpPr>
        <p:spPr>
          <a:xfrm>
            <a:off x="6035040" y="1554480"/>
            <a:ext cx="2670048" cy="45720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24" name="Shape 18"/>
          <p:cNvSpPr/>
          <p:nvPr/>
        </p:nvSpPr>
        <p:spPr>
          <a:xfrm>
            <a:off x="8339328" y="1691640"/>
            <a:ext cx="201168" cy="201168"/>
          </a:xfrm>
          <a:prstGeom prst="ellipse">
            <a:avLst/>
          </a:prstGeom>
          <a:solidFill>
            <a:srgbClr val="0A0E1A"/>
          </a:solidFill>
          <a:ln w="12700">
            <a:solidFill>
              <a:srgbClr val="5DCC8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1700784"/>
            <a:ext cx="182880" cy="18288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6217920" y="1755648"/>
            <a:ext cx="457200" cy="457200"/>
          </a:xfrm>
          <a:prstGeom prst="ellipse">
            <a:avLst/>
          </a:prstGeom>
          <a:solidFill>
            <a:srgbClr val="0A0E1A"/>
          </a:solidFill>
          <a:ln w="15875">
            <a:solidFill>
              <a:srgbClr val="FFB45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1819656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48272" y="1719072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Thinking Mode</a:t>
            </a: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6748272" y="1993392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체인-오브-쏘트 추론 표시</a:t>
            </a:r>
            <a:endParaRPr lang="en-US" sz="900" dirty="0"/>
          </a:p>
        </p:txBody>
      </p:sp>
      <p:sp>
        <p:nvSpPr>
          <p:cNvPr id="30" name="Shape 22"/>
          <p:cNvSpPr/>
          <p:nvPr/>
        </p:nvSpPr>
        <p:spPr>
          <a:xfrm>
            <a:off x="457200" y="2633472"/>
            <a:ext cx="2670048" cy="96012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31" name="Shape 23"/>
          <p:cNvSpPr/>
          <p:nvPr/>
        </p:nvSpPr>
        <p:spPr>
          <a:xfrm>
            <a:off x="457200" y="2633472"/>
            <a:ext cx="2670048" cy="45720"/>
          </a:xfrm>
          <a:prstGeom prst="rect">
            <a:avLst/>
          </a:prstGeom>
          <a:solidFill>
            <a:srgbClr val="5DCC8C"/>
          </a:solidFill>
          <a:ln w="12700">
            <a:solidFill>
              <a:srgbClr val="5DCC8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32" name="Shape 24"/>
          <p:cNvSpPr/>
          <p:nvPr/>
        </p:nvSpPr>
        <p:spPr>
          <a:xfrm>
            <a:off x="2761488" y="2770632"/>
            <a:ext cx="201168" cy="201168"/>
          </a:xfrm>
          <a:prstGeom prst="ellipse">
            <a:avLst/>
          </a:prstGeom>
          <a:solidFill>
            <a:srgbClr val="0A0E1A"/>
          </a:solidFill>
          <a:ln w="12700">
            <a:solidFill>
              <a:srgbClr val="5DCC8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632" y="2779776"/>
            <a:ext cx="182880" cy="182880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40080" y="2834640"/>
            <a:ext cx="457200" cy="457200"/>
          </a:xfrm>
          <a:prstGeom prst="ellipse">
            <a:avLst/>
          </a:prstGeom>
          <a:solidFill>
            <a:srgbClr val="0A0E1A"/>
          </a:solidFill>
          <a:ln w="15875">
            <a:solidFill>
              <a:srgbClr val="5DCC8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088" y="2898648"/>
            <a:ext cx="329184" cy="329184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170432" y="2798064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마크다운 렌더링</a:t>
            </a: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1170432" y="3072384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Bold·코드·테이블·리스트 지원</a:t>
            </a:r>
            <a:endParaRPr lang="en-US" sz="900" dirty="0"/>
          </a:p>
        </p:txBody>
      </p:sp>
      <p:sp>
        <p:nvSpPr>
          <p:cNvPr id="38" name="Shape 28"/>
          <p:cNvSpPr/>
          <p:nvPr/>
        </p:nvSpPr>
        <p:spPr>
          <a:xfrm>
            <a:off x="3246120" y="2633472"/>
            <a:ext cx="2670048" cy="96012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39" name="Shape 29"/>
          <p:cNvSpPr/>
          <p:nvPr/>
        </p:nvSpPr>
        <p:spPr>
          <a:xfrm>
            <a:off x="3246120" y="2633472"/>
            <a:ext cx="2670048" cy="45720"/>
          </a:xfrm>
          <a:prstGeom prst="rect">
            <a:avLst/>
          </a:prstGeom>
          <a:solidFill>
            <a:srgbClr val="B084EE"/>
          </a:solidFill>
          <a:ln w="12700">
            <a:solidFill>
              <a:srgbClr val="B084EE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0" name="Shape 30"/>
          <p:cNvSpPr/>
          <p:nvPr/>
        </p:nvSpPr>
        <p:spPr>
          <a:xfrm>
            <a:off x="5550408" y="2770632"/>
            <a:ext cx="201168" cy="201168"/>
          </a:xfrm>
          <a:prstGeom prst="ellipse">
            <a:avLst/>
          </a:prstGeom>
          <a:solidFill>
            <a:srgbClr val="0A0E1A"/>
          </a:solidFill>
          <a:ln w="12700">
            <a:solidFill>
              <a:srgbClr val="5DCC8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552" y="2779776"/>
            <a:ext cx="182880" cy="182880"/>
          </a:xfrm>
          <a:prstGeom prst="rect">
            <a:avLst/>
          </a:prstGeom>
        </p:spPr>
      </p:pic>
      <p:sp>
        <p:nvSpPr>
          <p:cNvPr id="42" name="Shape 31"/>
          <p:cNvSpPr/>
          <p:nvPr/>
        </p:nvSpPr>
        <p:spPr>
          <a:xfrm>
            <a:off x="3429000" y="2834640"/>
            <a:ext cx="457200" cy="457200"/>
          </a:xfrm>
          <a:prstGeom prst="ellipse">
            <a:avLst/>
          </a:prstGeom>
          <a:solidFill>
            <a:srgbClr val="0A0E1A"/>
          </a:solidFill>
          <a:ln w="15875">
            <a:solidFill>
              <a:srgbClr val="B084EE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3008" y="2898648"/>
            <a:ext cx="329184" cy="329184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3959352" y="2798064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다크 테마</a:t>
            </a:r>
            <a:endParaRPr lang="en-US" sz="1200" dirty="0"/>
          </a:p>
        </p:txBody>
      </p:sp>
      <p:sp>
        <p:nvSpPr>
          <p:cNvPr id="45" name="Text 33"/>
          <p:cNvSpPr/>
          <p:nvPr/>
        </p:nvSpPr>
        <p:spPr>
          <a:xfrm>
            <a:off x="3959352" y="3072384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공장/산업 환경에 적합한 UI</a:t>
            </a:r>
            <a:endParaRPr lang="en-US" sz="900" dirty="0"/>
          </a:p>
        </p:txBody>
      </p:sp>
      <p:sp>
        <p:nvSpPr>
          <p:cNvPr id="46" name="Shape 34"/>
          <p:cNvSpPr/>
          <p:nvPr/>
        </p:nvSpPr>
        <p:spPr>
          <a:xfrm>
            <a:off x="6035040" y="2633472"/>
            <a:ext cx="2670048" cy="96012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47" name="Shape 35"/>
          <p:cNvSpPr/>
          <p:nvPr/>
        </p:nvSpPr>
        <p:spPr>
          <a:xfrm>
            <a:off x="6035040" y="2633472"/>
            <a:ext cx="2670048" cy="4572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48" name="Shape 36"/>
          <p:cNvSpPr/>
          <p:nvPr/>
        </p:nvSpPr>
        <p:spPr>
          <a:xfrm>
            <a:off x="8339328" y="2770632"/>
            <a:ext cx="201168" cy="201168"/>
          </a:xfrm>
          <a:prstGeom prst="ellipse">
            <a:avLst/>
          </a:prstGeom>
          <a:solidFill>
            <a:srgbClr val="0A0E1A"/>
          </a:solidFill>
          <a:ln w="12700">
            <a:solidFill>
              <a:srgbClr val="5DCC8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472" y="2779776"/>
            <a:ext cx="182880" cy="182880"/>
          </a:xfrm>
          <a:prstGeom prst="rect">
            <a:avLst/>
          </a:prstGeom>
        </p:spPr>
      </p:pic>
      <p:sp>
        <p:nvSpPr>
          <p:cNvPr id="50" name="Shape 37"/>
          <p:cNvSpPr/>
          <p:nvPr/>
        </p:nvSpPr>
        <p:spPr>
          <a:xfrm>
            <a:off x="6217920" y="2834640"/>
            <a:ext cx="457200" cy="457200"/>
          </a:xfrm>
          <a:prstGeom prst="ellipse">
            <a:avLst/>
          </a:prstGeom>
          <a:solidFill>
            <a:srgbClr val="0A0E1A"/>
          </a:solidFill>
          <a:ln w="15875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51" name="Image 11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81928" y="2898648"/>
            <a:ext cx="329184" cy="329184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6748272" y="2798064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스마트 팩토리 페르소나</a:t>
            </a:r>
            <a:endParaRPr lang="en-US" sz="1200" dirty="0"/>
          </a:p>
        </p:txBody>
      </p:sp>
      <p:sp>
        <p:nvSpPr>
          <p:cNvPr id="53" name="Text 39"/>
          <p:cNvSpPr/>
          <p:nvPr/>
        </p:nvSpPr>
        <p:spPr>
          <a:xfrm>
            <a:off x="6748272" y="3072384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제조업 전문 시스템 프롬프트</a:t>
            </a:r>
            <a:endParaRPr lang="en-US" sz="900" dirty="0"/>
          </a:p>
        </p:txBody>
      </p:sp>
      <p:sp>
        <p:nvSpPr>
          <p:cNvPr id="54" name="Shape 40"/>
          <p:cNvSpPr/>
          <p:nvPr/>
        </p:nvSpPr>
        <p:spPr>
          <a:xfrm>
            <a:off x="457200" y="3712464"/>
            <a:ext cx="2670048" cy="960120"/>
          </a:xfrm>
          <a:prstGeom prst="rect">
            <a:avLst/>
          </a:prstGeom>
          <a:solidFill>
            <a:srgbClr val="162038"/>
          </a:solidFill>
          <a:ln w="6350">
            <a:solidFill>
              <a:srgbClr val="2A3553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sp>
        <p:nvSpPr>
          <p:cNvPr id="55" name="Shape 41"/>
          <p:cNvSpPr/>
          <p:nvPr/>
        </p:nvSpPr>
        <p:spPr>
          <a:xfrm>
            <a:off x="457200" y="3712464"/>
            <a:ext cx="2670048" cy="45720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56" name="Shape 42"/>
          <p:cNvSpPr/>
          <p:nvPr/>
        </p:nvSpPr>
        <p:spPr>
          <a:xfrm>
            <a:off x="2761488" y="3849624"/>
            <a:ext cx="201168" cy="201168"/>
          </a:xfrm>
          <a:prstGeom prst="ellipse">
            <a:avLst/>
          </a:prstGeom>
          <a:solidFill>
            <a:srgbClr val="0A0E1A"/>
          </a:solidFill>
          <a:ln w="12700">
            <a:solidFill>
              <a:srgbClr val="5DCC8C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57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632" y="3858768"/>
            <a:ext cx="182880" cy="182880"/>
          </a:xfrm>
          <a:prstGeom prst="rect">
            <a:avLst/>
          </a:prstGeom>
        </p:spPr>
      </p:pic>
      <p:sp>
        <p:nvSpPr>
          <p:cNvPr id="58" name="Shape 43"/>
          <p:cNvSpPr/>
          <p:nvPr/>
        </p:nvSpPr>
        <p:spPr>
          <a:xfrm>
            <a:off x="640080" y="3913632"/>
            <a:ext cx="457200" cy="457200"/>
          </a:xfrm>
          <a:prstGeom prst="ellipse">
            <a:avLst/>
          </a:prstGeom>
          <a:solidFill>
            <a:srgbClr val="0A0E1A"/>
          </a:solidFill>
          <a:ln w="15875">
            <a:solidFill>
              <a:srgbClr val="4ECDC4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pic>
        <p:nvPicPr>
          <p:cNvPr id="59" name="Image 13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4088" y="3977640"/>
            <a:ext cx="329184" cy="329184"/>
          </a:xfrm>
          <a:prstGeom prst="rect">
            <a:avLst/>
          </a:prstGeom>
        </p:spPr>
      </p:pic>
      <p:sp>
        <p:nvSpPr>
          <p:cNvPr id="60" name="Text 44"/>
          <p:cNvSpPr/>
          <p:nvPr/>
        </p:nvSpPr>
        <p:spPr>
          <a:xfrm>
            <a:off x="1170432" y="3877056"/>
            <a:ext cx="1709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자동 감지</a:t>
            </a:r>
            <a:endParaRPr lang="en-US" sz="1200" dirty="0"/>
          </a:p>
        </p:txBody>
      </p:sp>
      <p:sp>
        <p:nvSpPr>
          <p:cNvPr id="61" name="Text 45"/>
          <p:cNvSpPr/>
          <p:nvPr/>
        </p:nvSpPr>
        <p:spPr>
          <a:xfrm>
            <a:off x="1170432" y="415137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가능한 모델 자동 선택</a:t>
            </a:r>
            <a:endParaRPr lang="en-US" sz="900" dirty="0"/>
          </a:p>
        </p:txBody>
      </p:sp>
      <p:sp>
        <p:nvSpPr>
          <p:cNvPr id="62" name="Shape 46"/>
          <p:cNvSpPr/>
          <p:nvPr/>
        </p:nvSpPr>
        <p:spPr>
          <a:xfrm>
            <a:off x="3246120" y="3712464"/>
            <a:ext cx="5458968" cy="960120"/>
          </a:xfrm>
          <a:prstGeom prst="rect">
            <a:avLst/>
          </a:prstGeom>
          <a:solidFill>
            <a:srgbClr val="1F2D4D"/>
          </a:solidFill>
          <a:ln w="12700">
            <a:solidFill>
              <a:srgbClr val="FF6B35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ko-Kore-KR" altLang="en-US"/>
          </a:p>
        </p:txBody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74720" y="3895344"/>
            <a:ext cx="594360" cy="594360"/>
          </a:xfrm>
          <a:prstGeom prst="rect">
            <a:avLst/>
          </a:prstGeom>
        </p:spPr>
      </p:pic>
      <p:sp>
        <p:nvSpPr>
          <p:cNvPr id="64" name="Text 47"/>
          <p:cNvSpPr/>
          <p:nvPr/>
        </p:nvSpPr>
        <p:spPr>
          <a:xfrm>
            <a:off x="4206240" y="3822192"/>
            <a:ext cx="43616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A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Made for the Factory Floor.</a:t>
            </a:r>
            <a:endParaRPr lang="en-US" sz="1600" dirty="0"/>
          </a:p>
        </p:txBody>
      </p:sp>
      <p:sp>
        <p:nvSpPr>
          <p:cNvPr id="65" name="Text 48"/>
          <p:cNvSpPr/>
          <p:nvPr/>
        </p:nvSpPr>
        <p:spPr>
          <a:xfrm>
            <a:off x="4206240" y="4187952"/>
            <a:ext cx="4361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로컬에서 동작하는 프라이빗 LLM으로 제조 현장의 의사결정을 가속화합니다.</a:t>
            </a:r>
            <a:endParaRPr lang="en-US" sz="1000" dirty="0"/>
          </a:p>
        </p:txBody>
      </p:sp>
      <p:sp>
        <p:nvSpPr>
          <p:cNvPr id="66" name="Shape 49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7" name="Shape 50"/>
          <p:cNvSpPr/>
          <p:nvPr/>
        </p:nvSpPr>
        <p:spPr>
          <a:xfrm>
            <a:off x="457200" y="4978908"/>
            <a:ext cx="164592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  <p:txBody>
          <a:bodyPr/>
          <a:lstStyle/>
          <a:p>
            <a:endParaRPr lang="ko-Kore-KR" altLang="en-US"/>
          </a:p>
        </p:txBody>
      </p:sp>
      <p:sp>
        <p:nvSpPr>
          <p:cNvPr id="68" name="Text 51"/>
          <p:cNvSpPr/>
          <p:nvPr/>
        </p:nvSpPr>
        <p:spPr>
          <a:xfrm>
            <a:off x="713232" y="4860036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FEATURES &amp; DEMO</a:t>
            </a:r>
            <a:endParaRPr lang="en-US" sz="900" dirty="0"/>
          </a:p>
        </p:txBody>
      </p:sp>
      <p:sp>
        <p:nvSpPr>
          <p:cNvPr id="69" name="Text 52"/>
          <p:cNvSpPr/>
          <p:nvPr/>
        </p:nvSpPr>
        <p:spPr>
          <a:xfrm>
            <a:off x="7772400" y="48600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 spc="100" dirty="0">
                <a:solidFill>
                  <a:srgbClr val="8A95B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775</Words>
  <Application>Microsoft Macintosh PowerPoint</Application>
  <PresentationFormat>화면 슬라이드 쇼(16:9)</PresentationFormat>
  <Paragraphs>203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Malgun Gothic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Factory Agent</dc:title>
  <dc:subject>PptxGenJS Presentation</dc:subject>
  <dc:creator>Kun Ho Ko</dc:creator>
  <cp:lastModifiedBy>Kun Ho Ko</cp:lastModifiedBy>
  <cp:revision>2</cp:revision>
  <dcterms:created xsi:type="dcterms:W3CDTF">2026-05-12T07:37:17Z</dcterms:created>
  <dcterms:modified xsi:type="dcterms:W3CDTF">2026-05-12T08:06:42Z</dcterms:modified>
</cp:coreProperties>
</file>